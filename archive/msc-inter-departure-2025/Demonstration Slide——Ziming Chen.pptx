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Karnchang SemiCondensed Bold" charset="1" panose="00000000000000000000"/>
      <p:regular r:id="rId16"/>
    </p:embeddedFont>
    <p:embeddedFont>
      <p:font typeface="Quark" charset="1" panose="02000000000000000000"/>
      <p:regular r:id="rId17"/>
    </p:embeddedFont>
    <p:embeddedFont>
      <p:font typeface="Quark Bold" charset="1" panose="02000000000000000000"/>
      <p:regular r:id="rId18"/>
    </p:embeddedFont>
    <p:embeddedFont>
      <p:font typeface="Muli" charset="1" panose="00000500000000000000"/>
      <p:regular r:id="rId19"/>
    </p:embeddedFont>
    <p:embeddedFont>
      <p:font typeface="Muli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01348" y="6961668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042557" y="-380448"/>
            <a:ext cx="3086100" cy="7022063"/>
            <a:chOff x="0" y="0"/>
            <a:chExt cx="812800" cy="1849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42557" y="-3396291"/>
            <a:ext cx="3086100" cy="6792583"/>
            <a:chOff x="0" y="0"/>
            <a:chExt cx="812800" cy="17889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65436" y="838200"/>
            <a:ext cx="11549217" cy="280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6399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Football Player Departure Prediction Based on Weight Optimization Algorithms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5436" y="4383405"/>
            <a:ext cx="8653460" cy="183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Name: Ziming Chen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Supervisor: Shuo Wang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259300" y="-380448"/>
            <a:ext cx="3086100" cy="7022063"/>
            <a:chOff x="0" y="0"/>
            <a:chExt cx="812800" cy="1849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0" y="-3396291"/>
            <a:ext cx="3086100" cy="6792583"/>
            <a:chOff x="0" y="0"/>
            <a:chExt cx="812800" cy="17889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65436" y="2404434"/>
            <a:ext cx="1189148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Construct multi-dimensional player departure prediction model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Apply multiple optimization algorithms to find optimal weight configurations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Provide scientific support for player contract renewal decisions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2762089" y="7152084"/>
            <a:ext cx="4153777" cy="2673522"/>
          </a:xfrm>
          <a:custGeom>
            <a:avLst/>
            <a:gdLst/>
            <a:ahLst/>
            <a:cxnLst/>
            <a:rect r="r" b="b" t="t" l="l"/>
            <a:pathLst>
              <a:path h="2673522" w="4153777">
                <a:moveTo>
                  <a:pt x="4153777" y="0"/>
                </a:moveTo>
                <a:lnTo>
                  <a:pt x="0" y="0"/>
                </a:lnTo>
                <a:lnTo>
                  <a:pt x="0" y="2673522"/>
                </a:lnTo>
                <a:lnTo>
                  <a:pt x="4153777" y="2673522"/>
                </a:lnTo>
                <a:lnTo>
                  <a:pt x="4153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65436" y="460239"/>
            <a:ext cx="6698332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436" y="4405884"/>
            <a:ext cx="6698332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Background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5436" y="6538922"/>
            <a:ext cx="1189148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Player departure prediction is crucial for club strategic planning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Traditional analysis methods lack quantitative metrics and prediction accuracy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 Develop real-time prediction system for club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41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F0F7FE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F0F7FE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294283" y="6594549"/>
            <a:ext cx="2168388" cy="3223280"/>
          </a:xfrm>
          <a:custGeom>
            <a:avLst/>
            <a:gdLst/>
            <a:ahLst/>
            <a:cxnLst/>
            <a:rect r="r" b="b" t="t" l="l"/>
            <a:pathLst>
              <a:path h="3223280" w="2168388">
                <a:moveTo>
                  <a:pt x="0" y="0"/>
                </a:moveTo>
                <a:lnTo>
                  <a:pt x="2168388" y="0"/>
                </a:lnTo>
                <a:lnTo>
                  <a:pt x="2168388" y="3223280"/>
                </a:lnTo>
                <a:lnTo>
                  <a:pt x="0" y="322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5436" y="5067300"/>
            <a:ext cx="11891487" cy="308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Position-Specific Modeling: Specialized metrics for different player positions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Percentile Scoring: Player performance evaluation based on league-wide standards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Weight Optimization: Four algorithms to find optimal weight configurations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Comprehensive Evaluation: Multiple ML metrics for thorough model assessment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5436" y="889089"/>
            <a:ext cx="11654399" cy="116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6399" b="true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Project Construction Methodology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436" y="3090545"/>
            <a:ext cx="1189148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Data Collection → Preprocessing → Feature Engineering → Weight Optimization → Model Evaluation → Result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328090" y="6594872"/>
            <a:ext cx="1975541" cy="3186356"/>
          </a:xfrm>
          <a:custGeom>
            <a:avLst/>
            <a:gdLst/>
            <a:ahLst/>
            <a:cxnLst/>
            <a:rect r="r" b="b" t="t" l="l"/>
            <a:pathLst>
              <a:path h="3186356" w="1975541">
                <a:moveTo>
                  <a:pt x="0" y="0"/>
                </a:moveTo>
                <a:lnTo>
                  <a:pt x="1975541" y="0"/>
                </a:lnTo>
                <a:lnTo>
                  <a:pt x="1975541" y="3186356"/>
                </a:lnTo>
                <a:lnTo>
                  <a:pt x="0" y="318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5436" y="5076825"/>
            <a:ext cx="11891487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Data Acquisition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Standard Stats: goals, assists, minutes played and other basic metrics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Advanced Stats: xG, xA, progressive passes and other advanced metrics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Position-Specific: Specialized metrics for forwards, midfielders, defenders, goalkeepers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5436" y="850989"/>
            <a:ext cx="8532387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Data Collection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436" y="2526182"/>
            <a:ext cx="11891487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Data Sources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Primary Source: FBref website (https://fbref.com)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Data Scope: Complete Serie A 2022-2023 season data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Data Types: Basic stats, shooting, passing, defensive, goalkeeper-specific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565436" y="2164558"/>
          <a:ext cx="11992439" cy="6046057"/>
        </p:xfrm>
        <a:graphic>
          <a:graphicData uri="http://schemas.openxmlformats.org/drawingml/2006/table">
            <a:tbl>
              <a:tblPr/>
              <a:tblGrid>
                <a:gridCol w="2660434"/>
                <a:gridCol w="3019229"/>
                <a:gridCol w="3144308"/>
                <a:gridCol w="3168468"/>
              </a:tblGrid>
              <a:tr h="6945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0F7FE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Forward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1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0F7FE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Midfielder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1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0F7FE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Defender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1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0F7FE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Goalkeeper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15F"/>
                    </a:solidFill>
                  </a:tcPr>
                </a:tc>
              </a:tr>
              <a:tr h="177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Attacking: Goals, Assists, Shots on Targ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et, Expected Goals (xG)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Passing: Pass Completion Rate, Key Passes, Progressive Passes, Expected Assists (xAG)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Defensive: Tackles, Interceptions, Blocks, Clearances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Saves: Save Count, Save Percentage, Shots Faced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27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Cr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eation: Shot Creating Actions, Goal Creating Actions, Shots per 90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Possession: Touches, Successful Take-ons, Progressive Carries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Passing: Pass Completion Rate, Long Pass Accuracy, Passes to Final Third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Performance: Clean Sheets, Clean Sheet Rate, Goals Against per 90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5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Effici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ency: Conversion Rate, Shot Accuracy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Organization: Passes to Final Third, Passes to Penalty Area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Stability: Playing Time, Age Factor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Special: Penalty Save Rate, Wins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13834100" y="6666572"/>
            <a:ext cx="2807352" cy="3088087"/>
          </a:xfrm>
          <a:custGeom>
            <a:avLst/>
            <a:gdLst/>
            <a:ahLst/>
            <a:cxnLst/>
            <a:rect r="r" b="b" t="t" l="l"/>
            <a:pathLst>
              <a:path h="3088087" w="2807352">
                <a:moveTo>
                  <a:pt x="0" y="0"/>
                </a:moveTo>
                <a:lnTo>
                  <a:pt x="2807352" y="0"/>
                </a:lnTo>
                <a:lnTo>
                  <a:pt x="2807352" y="3088087"/>
                </a:lnTo>
                <a:lnTo>
                  <a:pt x="0" y="3088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5436" y="139671"/>
            <a:ext cx="12762654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Player Metrics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5436" y="8512411"/>
            <a:ext cx="11992439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Then, we used percentile calculation to compute relative performance based on players in the same position.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The formula for performance_score is: the percentile of each metric × its weight.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41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F0F7FE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471776" y="2171975"/>
          <a:ext cx="11891487" cy="6057900"/>
        </p:xfrm>
        <a:graphic>
          <a:graphicData uri="http://schemas.openxmlformats.org/drawingml/2006/table">
            <a:tbl>
              <a:tblPr/>
              <a:tblGrid>
                <a:gridCol w="2378297"/>
                <a:gridCol w="2378297"/>
                <a:gridCol w="2378297"/>
                <a:gridCol w="2378297"/>
                <a:gridCol w="2378297"/>
              </a:tblGrid>
              <a:tr h="984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Genetic Algorithm (GA)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Particle Swarm Optimization (PSO)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Simulated Annealing (SA)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Random Search (RS)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</a:tr>
              <a:tr h="20447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Principle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Simulates biological evolution through selection, crossover, and mutation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Simulates bird flocking behavior with collaborative particle search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Simulates metal annealing process with gradual temperature reduction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Intelligent random strategy combining exploration and exploitation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2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Advantages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Strong global search capability, suitable for complex optimization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Fast convergence, simple parameter setting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Escapes local optima, suitable for non-convex optimization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Simple implementation, serves as comparison baseline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77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Parameters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Population size=10, Iterations=20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Particles=30, Iterations=50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Initial temperature=100, Max iterations=1000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Iterations=1500, Smart strategy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14189906" y="7229219"/>
            <a:ext cx="2725960" cy="2527708"/>
          </a:xfrm>
          <a:custGeom>
            <a:avLst/>
            <a:gdLst/>
            <a:ahLst/>
            <a:cxnLst/>
            <a:rect r="r" b="b" t="t" l="l"/>
            <a:pathLst>
              <a:path h="2527708" w="2725960">
                <a:moveTo>
                  <a:pt x="0" y="0"/>
                </a:moveTo>
                <a:lnTo>
                  <a:pt x="2725960" y="0"/>
                </a:lnTo>
                <a:lnTo>
                  <a:pt x="2725960" y="2527709"/>
                </a:lnTo>
                <a:lnTo>
                  <a:pt x="0" y="25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71776" y="460239"/>
            <a:ext cx="12430329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Optimization Algorithms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1776" y="8770773"/>
            <a:ext cx="1189148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Composite Score = 0.25*PR_AUC + 0.2*Balanced_Accuracy + 0.2*Kappa + 0.15*MCC + 0.1*Accuracy + 0.1*(1 - Brier_Score)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328090" y="6594872"/>
            <a:ext cx="1975541" cy="3186356"/>
          </a:xfrm>
          <a:custGeom>
            <a:avLst/>
            <a:gdLst/>
            <a:ahLst/>
            <a:cxnLst/>
            <a:rect r="r" b="b" t="t" l="l"/>
            <a:pathLst>
              <a:path h="3186356" w="1975541">
                <a:moveTo>
                  <a:pt x="0" y="0"/>
                </a:moveTo>
                <a:lnTo>
                  <a:pt x="1975541" y="0"/>
                </a:lnTo>
                <a:lnTo>
                  <a:pt x="1975541" y="3186356"/>
                </a:lnTo>
                <a:lnTo>
                  <a:pt x="0" y="318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39671"/>
            <a:ext cx="15693864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Machine Learning Evaluation Metrics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399547"/>
            <a:ext cx="5179739" cy="20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Precision-Recall AUC (PR-AUC)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Definition: Measures model performance on imbalanced datasets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Selection Reason: Departing players are minority class, PR-AUC more suitable than ROC-AUC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02076" y="2399547"/>
            <a:ext cx="4883848" cy="20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Cohen's Kappa Coefficient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Definition: Classification performance metric considering random agreement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Selection Reason: More reliable than accuracy, suitable for small sample evaluation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86011" y="2399547"/>
            <a:ext cx="5028534" cy="20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Brier Score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Definition: Evaluates probability prediction accuracy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Selection Reason: Focuses on probability calibration, not just classification results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Processing: 1-Brier Score, higher is better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291175"/>
            <a:ext cx="3825088" cy="20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Balanced Accuracy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Definition: Average of true positive rate and true negative rate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Selection Reason: Avoids class imbalance impact on accuracy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49284" y="5291175"/>
            <a:ext cx="5589432" cy="316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Matthews Correlation Coefficient (MCC)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Definition: Correlation coefficient considering all confusion matrix elements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Selection Reason: Considered the most comprehensive single metric for binary classification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- Characteristics: Range [-1,1], 0 indicates random prediction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41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F0F7FE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F0F7FE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0" y="3498831"/>
          <a:ext cx="11891487" cy="4046120"/>
        </p:xfrm>
        <a:graphic>
          <a:graphicData uri="http://schemas.openxmlformats.org/drawingml/2006/table">
            <a:tbl>
              <a:tblPr/>
              <a:tblGrid>
                <a:gridCol w="1698784"/>
                <a:gridCol w="1698784"/>
                <a:gridCol w="1698784"/>
                <a:gridCol w="1698784"/>
                <a:gridCol w="1698784"/>
                <a:gridCol w="1698784"/>
                <a:gridCol w="1698784"/>
              </a:tblGrid>
              <a:tr h="985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7415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Algorithm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Accuracy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PR-AUC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Kappa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Brier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Balance_Accuracy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7415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MCC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DFF"/>
                    </a:solidFill>
                  </a:tcPr>
                </a:tc>
              </a:tr>
              <a:tr h="765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GA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0.920±0.000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0.953±0.000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0.841±0.000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0.193±0.000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0.923±0.000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0.852±0.000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PSO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0.920±0.000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0.960±0.009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0.841±0.000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0.189±0.000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0.923±0.000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0.852±0.000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SA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0.684±0.099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0.830±0.064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$40,000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0.218±0.010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0.690±0.095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0.407±0.189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RS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0.920±0.000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0.954±0.008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$100,000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0.192±0.001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0.923±0.000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0.852±0.000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14189906" y="7229219"/>
            <a:ext cx="2725960" cy="2527708"/>
          </a:xfrm>
          <a:custGeom>
            <a:avLst/>
            <a:gdLst/>
            <a:ahLst/>
            <a:cxnLst/>
            <a:rect r="r" b="b" t="t" l="l"/>
            <a:pathLst>
              <a:path h="2527708" w="2725960">
                <a:moveTo>
                  <a:pt x="0" y="0"/>
                </a:moveTo>
                <a:lnTo>
                  <a:pt x="2725960" y="0"/>
                </a:lnTo>
                <a:lnTo>
                  <a:pt x="2725960" y="2527709"/>
                </a:lnTo>
                <a:lnTo>
                  <a:pt x="0" y="25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65436" y="870039"/>
            <a:ext cx="12430329" cy="23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8"/>
              </a:lnSpc>
            </a:pPr>
            <a:r>
              <a:rPr lang="en-US" sz="7503" b="true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Optimal Weight Configuration</a:t>
            </a:r>
          </a:p>
          <a:p>
            <a:pPr algn="l">
              <a:lnSpc>
                <a:spcPts val="788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883747" y="4346316"/>
            <a:ext cx="3591170" cy="319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Composite Score</a:t>
            </a: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(based on average performance):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 1. PSO: 0.894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2. RS: 0.892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3. GA: 0.892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4. SA: 0.629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38203" y="2741708"/>
            <a:ext cx="4060586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Each model is run ten times, and the average value is taken.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377866" y="2380341"/>
            <a:ext cx="4055237" cy="427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Midfielder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assists_weight: 0.150000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minutes_weight: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age_weight: 0.083103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pass_completion_weight: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progressive_passes_weight: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key_passes_weight: 0.150000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expected_assists_weight: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touches_weight: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progressive_carries_weight: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successful_take_ons_weight: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base_risk: 0.200000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risk_multiplier: 0.700000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5436" y="850989"/>
            <a:ext cx="12388072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Optimal Weight Configuration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6953" y="2380341"/>
            <a:ext cx="4429878" cy="427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Defender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minutes_weight: 0.150000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age_weight: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progressive_passes_weight: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pass_completion_weight: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long_pass_completion_weight: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passes_to_final_third_weight: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tackles_weight: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interceptions_weight: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blocks_weight: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clearances_weight: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base_risk: 0.200000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risk_multiplier: 0.685508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2380341"/>
            <a:ext cx="4055193" cy="490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Forward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goals_weight: 0.150000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assists_weight: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minutes_weight: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age_weight: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shots_on_target_weight: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conversion_rate_weight: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expected_goals_weight: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shot_creating_actions_weight: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goal_creating_actions_weight: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shots_per_90_weight: 0.050000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base_risk: 0.257264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risk_multiplier: 0.700000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9109" y="2380341"/>
            <a:ext cx="4492319" cy="427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Goalkeeper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minutes_weight: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age_weight: 0.071191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saves_weight: 0.150000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save_percentage_weight: 0.098458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clean_sheets_weight: 0.080000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clean_sheet_percentage_weight: 0.067658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goals_against_per_90_weight: 0.082167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penalty_save_rate_weight: 0.059067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shots_faced_weight: 0.120000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wins_weight: 0.084329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base_risk: 0.400000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  risk_multiplier: 0.700000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4188" y="7563030"/>
            <a:ext cx="16133812" cy="181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departure_prob = base_risk + (1 - performance_score) × risk_multiplier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7415F"/>
                </a:solidFill>
                <a:latin typeface="Muli"/>
                <a:ea typeface="Muli"/>
                <a:cs typeface="Muli"/>
                <a:sym typeface="Muli"/>
              </a:rPr>
              <a:t>Therefore, we choose PSO and build a model for transfer prediction in the new season.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24662" y="-18432980"/>
            <a:ext cx="0" cy="20019890"/>
          </a:xfrm>
          <a:prstGeom prst="line">
            <a:avLst/>
          </a:prstGeom>
          <a:ln cap="flat" w="38100">
            <a:solidFill>
              <a:srgbClr val="17415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15866" y="-251526"/>
            <a:ext cx="1764194" cy="4014219"/>
            <a:chOff x="0" y="0"/>
            <a:chExt cx="812800" cy="184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5866" y="-1975557"/>
            <a:ext cx="1764194" cy="3883035"/>
            <a:chOff x="0" y="0"/>
            <a:chExt cx="812800" cy="1788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11427" y="-251526"/>
            <a:ext cx="1764194" cy="4014219"/>
            <a:chOff x="0" y="0"/>
            <a:chExt cx="812800" cy="184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849432"/>
            </a:xfrm>
            <a:custGeom>
              <a:avLst/>
              <a:gdLst/>
              <a:ahLst/>
              <a:cxnLst/>
              <a:rect r="r" b="b" t="t" l="l"/>
              <a:pathLst>
                <a:path h="184943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11427" y="-1975557"/>
            <a:ext cx="1764194" cy="3883035"/>
            <a:chOff x="0" y="0"/>
            <a:chExt cx="812800" cy="1788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88993"/>
            </a:xfrm>
            <a:custGeom>
              <a:avLst/>
              <a:gdLst/>
              <a:ahLst/>
              <a:cxnLst/>
              <a:rect r="r" b="b" t="t" l="l"/>
              <a:pathLst>
                <a:path h="1788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565828" y="7044055"/>
            <a:ext cx="1849099" cy="2627919"/>
          </a:xfrm>
          <a:custGeom>
            <a:avLst/>
            <a:gdLst/>
            <a:ahLst/>
            <a:cxnLst/>
            <a:rect r="r" b="b" t="t" l="l"/>
            <a:pathLst>
              <a:path h="2627919" w="1849099">
                <a:moveTo>
                  <a:pt x="0" y="0"/>
                </a:moveTo>
                <a:lnTo>
                  <a:pt x="1849099" y="0"/>
                </a:lnTo>
                <a:lnTo>
                  <a:pt x="1849099" y="2627919"/>
                </a:lnTo>
                <a:lnTo>
                  <a:pt x="0" y="2627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5436" y="850989"/>
            <a:ext cx="12762654" cy="14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Future Work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5436" y="2537747"/>
            <a:ext cx="1189148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8.19-8.21: Revise the project based on the demonstration feedbacks and complete the entire coding part of the project by August 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436" y="3814097"/>
            <a:ext cx="1189148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8.21-8.27: Complete the project report and submit it to the supervisor for feedback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5436" y="5090448"/>
            <a:ext cx="1189148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8.27-9.1: Revise the report based on the supervisor’s feedback and submit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90718" y="6823998"/>
            <a:ext cx="6706564" cy="37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2"/>
              </a:lnSpc>
            </a:pPr>
            <a:r>
              <a:rPr lang="en-US" sz="12190" b="true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Thank You</a:t>
            </a:r>
          </a:p>
          <a:p>
            <a:pPr algn="l">
              <a:lnSpc>
                <a:spcPts val="1231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DAGv5oobwhU</dc:identifier>
  <dcterms:modified xsi:type="dcterms:W3CDTF">2011-08-01T06:04:30Z</dcterms:modified>
  <cp:revision>1</cp:revision>
  <dc:title>Blue White Minimalist Illustrative Financial Report Presentation</dc:title>
</cp:coreProperties>
</file>